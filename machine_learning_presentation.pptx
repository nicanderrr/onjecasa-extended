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FE2EE"/>
                </a:solidFill>
              </a:defRPr>
            </a:pPr>
            <a:r>
              <a:t>Teaching computers to learn patterns from data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188720"/>
            <a:ext cx="1280160" cy="1280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6" name="Oval 5"/>
          <p:cNvSpPr/>
          <p:nvPr/>
        </p:nvSpPr>
        <p:spPr>
          <a:xfrm>
            <a:off x="9052560" y="2514600"/>
            <a:ext cx="1280160" cy="128016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3840480"/>
            <a:ext cx="1280160" cy="1280160"/>
          </a:xfrm>
          <a:prstGeom prst="ellipse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549640" y="1828800"/>
            <a:ext cx="914400" cy="320040"/>
          </a:xfrm>
          <a:prstGeom prst="rightArrow">
            <a:avLst/>
          </a:prstGeom>
          <a:solidFill>
            <a:srgbClr val="77C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549640" y="3703320"/>
            <a:ext cx="914400" cy="320040"/>
          </a:xfrm>
          <a:prstGeom prst="rightArrow">
            <a:avLst/>
          </a:prstGeom>
          <a:solidFill>
            <a:srgbClr val="EF9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52238"/>
                </a:solidFill>
              </a:defRPr>
            </a:pPr>
            <a:r>
              <a:t>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F82"/>
                </a:solidFill>
              </a:defRPr>
            </a:pPr>
            <a:r>
              <a:t>A simple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4922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Machine learning is a branch of artificial intelligence.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It allows computers to learn from examples instead of only following fixed rules.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A trained model can make predictions, classify information, or discover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002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600200"/>
            <a:ext cx="109728" cy="2560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801368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Simple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258568"/>
            <a:ext cx="3063239" cy="1783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Data + algorithm = trained model</a:t>
            </a:r>
            <a:br/>
            <a:br/>
            <a:r>
              <a:t>Trained model + new input =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F6F82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52238"/>
                </a:solidFill>
              </a:defRPr>
            </a:pPr>
            <a:r>
              <a:t>How Machine Learning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F82"/>
                </a:solidFill>
              </a:defRPr>
            </a:pPr>
            <a:r>
              <a:t>The basic flow from data to prediction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1417320" cy="14173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Collect</a:t>
            </a:r>
            <a:br/>
            <a:r>
              <a:t>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816352"/>
            <a:ext cx="777240" cy="256032"/>
          </a:xfrm>
          <a:prstGeom prst="rightArrow">
            <a:avLst/>
          </a:prstGeom>
          <a:solidFill>
            <a:srgbClr val="5F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29000" y="2331720"/>
            <a:ext cx="1417320" cy="141732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Train</a:t>
            </a:r>
            <a:br/>
            <a:r>
              <a:t>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2816352"/>
            <a:ext cx="777240" cy="256032"/>
          </a:xfrm>
          <a:prstGeom prst="rightArrow">
            <a:avLst/>
          </a:prstGeom>
          <a:solidFill>
            <a:srgbClr val="5F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89320" y="2331720"/>
            <a:ext cx="1417320" cy="1417320"/>
          </a:xfrm>
          <a:prstGeom prst="ellipse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Test</a:t>
            </a:r>
            <a:br/>
            <a:r>
              <a:t>Accuracy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43800" y="2816352"/>
            <a:ext cx="777240" cy="256032"/>
          </a:xfrm>
          <a:prstGeom prst="rightArrow">
            <a:avLst/>
          </a:prstGeom>
          <a:solidFill>
            <a:srgbClr val="5F6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49640" y="2331720"/>
            <a:ext cx="1417320" cy="1417320"/>
          </a:xfrm>
          <a:prstGeom prst="ellipse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 for</a:t>
            </a:r>
            <a:br/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  <a:defRPr sz="1700">
                <a:solidFill>
                  <a:srgbClr val="152238"/>
                </a:solidFill>
              </a:defRPr>
            </a:pPr>
            <a:r>
              <a:t>The model studies training data to learn useful patterns.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700">
                <a:solidFill>
                  <a:srgbClr val="152238"/>
                </a:solidFill>
              </a:defRPr>
            </a:pPr>
            <a:r>
              <a:t>Testing checks whether it works well on new examples.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1700">
                <a:solidFill>
                  <a:srgbClr val="152238"/>
                </a:solidFill>
              </a:defRPr>
            </a:pPr>
            <a:r>
              <a:t>Good machine learning depends on good, representative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0080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F6F82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52238"/>
                </a:solidFill>
              </a:defRPr>
            </a:pPr>
            <a:r>
              <a:t>Main Types of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9728" cy="3200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301752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Learns from labeled examples.</a:t>
            </a:r>
            <a:br/>
            <a:br/>
            <a:r>
              <a:t>Example: predicting house prices from previous house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109728" cy="32004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556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Unsupervised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212848"/>
            <a:ext cx="301752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Finds hidden patterns without answer labels.</a:t>
            </a:r>
            <a:br/>
            <a:br/>
            <a:r>
              <a:t>Example: grouping customers by buying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109728" cy="320040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556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Reinforcement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212848"/>
            <a:ext cx="301752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Learns by receiving rewards or penalties.</a:t>
            </a:r>
            <a:br/>
            <a:br/>
            <a:r>
              <a:t>Example: an AI learning to play a game.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0080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F6F82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52238"/>
                </a:solidFill>
              </a:defRPr>
            </a:pPr>
            <a:r>
              <a:t>Everyday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00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9728" cy="1600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61848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075688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Netflix, YouTube, TikTok, and shopping apps suggest content or products.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00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109728" cy="16002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61848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Voice assistants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75688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Speech recognition helps systems understand spoken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39"/>
            <a:ext cx="4800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520439"/>
            <a:ext cx="109728" cy="160020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721607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Fraud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178807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Banks detect unusual transactions and warn customers.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20439"/>
            <a:ext cx="48006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520439"/>
            <a:ext cx="109728" cy="16002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721607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Medical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178807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Models can help identify patterns in scans and patient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0080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F6F82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52238"/>
                </a:solidFill>
              </a:defRPr>
            </a:pPr>
            <a:r>
              <a:t>Why Machine Learning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5943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Handles large amounts of data faster than humans can.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Finds patterns that may be difficult to see manually.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Improves decisions in business, science, health, and security.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100">
                <a:solidFill>
                  <a:srgbClr val="152238"/>
                </a:solidFill>
              </a:defRPr>
            </a:pPr>
            <a:r>
              <a:t>Can adapt when new training data becomes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508760"/>
            <a:ext cx="38404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508760"/>
            <a:ext cx="109728" cy="3200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17099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2167128"/>
            <a:ext cx="342900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Machine learning is most valuable when there is enough quality data and a clear problem to solve.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0080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F6F82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138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52238"/>
                </a:solidFill>
              </a:defRPr>
            </a:pPr>
            <a:r>
              <a:t>Challenges and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9728" cy="33832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70992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Bad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167128"/>
            <a:ext cx="292607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If the data is incomplete, wrong, or biased, the model may learn poor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109728" cy="338328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70992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67128"/>
            <a:ext cx="292607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A model may memorize training examples and perform badly on new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109728" cy="3383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09928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2238"/>
                </a:solidFill>
              </a:defRPr>
            </a:pPr>
            <a:r>
              <a:t>Privacy and fairness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67128"/>
            <a:ext cx="292607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350">
                <a:solidFill>
                  <a:srgbClr val="5F6F82"/>
                </a:solidFill>
              </a:defRPr>
            </a:pPr>
            <a:r>
              <a:t>Systems must protect personal data and avoid unfair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00800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F6F82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Machine learning teaches computers to learn from data.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It is used for predictions, classification, recommendations, and pattern discovery.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The three major types are supervised, unsupervised, and reinforcement learning.</a:t>
            </a:r>
          </a:p>
          <a:p>
            <a:pPr>
              <a:lnSpc>
                <a:spcPct val="110000"/>
              </a:lnSpc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Good results require good data, careful testing, and responsible use.</a:t>
            </a:r>
          </a:p>
        </p:txBody>
      </p:sp>
      <p:sp>
        <p:nvSpPr>
          <p:cNvPr id="5" name="Oval 4"/>
          <p:cNvSpPr/>
          <p:nvPr/>
        </p:nvSpPr>
        <p:spPr>
          <a:xfrm>
            <a:off x="8595360" y="1920240"/>
            <a:ext cx="1325880" cy="13258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LEARN</a:t>
            </a:r>
          </a:p>
        </p:txBody>
      </p:sp>
      <p:sp>
        <p:nvSpPr>
          <p:cNvPr id="6" name="Oval 5"/>
          <p:cNvSpPr/>
          <p:nvPr/>
        </p:nvSpPr>
        <p:spPr>
          <a:xfrm>
            <a:off x="9555480" y="3063240"/>
            <a:ext cx="1325880" cy="132588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7" name="Oval 6"/>
          <p:cNvSpPr/>
          <p:nvPr/>
        </p:nvSpPr>
        <p:spPr>
          <a:xfrm>
            <a:off x="8595360" y="4206240"/>
            <a:ext cx="1325880" cy="1325880"/>
          </a:xfrm>
          <a:prstGeom prst="ellipse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